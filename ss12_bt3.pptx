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/>
              <a:t>Bấm để chỉnh sửa kiểu tiêu đề phụ của Bản cái</a:t>
            </a:r>
            <a:endParaRPr lang="vi-VN" dirty="0"/>
          </a:p>
        </p:txBody>
      </p:sp>
      <p:sp>
        <p:nvSpPr>
          <p:cNvPr id="16" name="Chỗ dành sẵn cho Ngày tháng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17" name="Chỗ dành sẵn cho Chân trang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18" name="Chỗ dành sẵn cho Số hiệu Bản chiếu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vi-VN" dirty="0"/>
              <a:t>Bấm để chỉnh sửa tiêu đề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Bấm để chỉnh sửa văn bản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Hình ảnh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vi-VN" smtClean="0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vi-VN" smtClean="0"/>
            </a:fld>
            <a:endParaRPr lang="vi-VN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vi-VN" smtClean="0"/>
            </a:fld>
            <a:endParaRPr lang="vi-VN"/>
          </a:p>
        </p:txBody>
      </p:sp>
      <p:sp>
        <p:nvSpPr>
          <p:cNvPr id="9" name="Tiêu đề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vi-VN"/>
              <a:t>Bấm để sửa kiểu tiêu đề Bản cái</a:t>
            </a:r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7" name="Chỗ dành sẵn cho Nội dung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ản chiếu cuố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7" name="Chỗ dành sẵn cho Văn bản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1.jpe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45510" y="1278255"/>
            <a:ext cx="9799200" cy="2570400"/>
          </a:xfrm>
        </p:spPr>
        <p:txBody>
          <a:bodyPr>
            <a:normAutofit/>
          </a:bodyPr>
          <a:p>
            <a:pPr algn="l"/>
            <a:r>
              <a:rPr lang="en-US" altLang="vi-VN" sz="1555" b="1"/>
              <a:t>PHẦN 1. PH</a:t>
            </a:r>
            <a:r>
              <a:rPr lang="" altLang="en-US" sz="1555" b="1"/>
              <a:t>Â</a:t>
            </a:r>
            <a:r>
              <a:rPr lang="en-US" altLang="vi-VN" sz="1555" b="1"/>
              <a:t>N T</a:t>
            </a:r>
            <a:r>
              <a:rPr lang="" altLang="en-US" sz="1555" b="1"/>
              <a:t>Í</a:t>
            </a:r>
            <a:r>
              <a:rPr lang="en-US" altLang="vi-VN" sz="1555" b="1"/>
              <a:t>CH</a:t>
            </a:r>
            <a:br>
              <a:rPr lang="en-US" altLang="vi-VN" sz="1555" b="1"/>
            </a:br>
            <a:r>
              <a:rPr lang="en-US" altLang="vi-VN" sz="1555" b="1"/>
              <a:t>: Mapping 4 tham số VLOOKUP = Nh</a:t>
            </a:r>
            <a:r>
              <a:rPr lang="en-US" altLang="en-US" sz="1555" b="1"/>
              <a:t>â</a:t>
            </a:r>
            <a:r>
              <a:rPr lang="en-US" altLang="vi-VN" sz="1555" b="1"/>
              <a:t>n vi</a:t>
            </a:r>
            <a:r>
              <a:rPr lang="en-US" altLang="en-US" sz="1555" b="1"/>
              <a:t>ê</a:t>
            </a:r>
            <a:r>
              <a:rPr lang="en-US" altLang="vi-VN" sz="1555" b="1"/>
              <a:t>n kho tra hồ s</a:t>
            </a:r>
            <a:r>
              <a:rPr lang="en-US" altLang="en-US" sz="1555" b="1"/>
              <a:t>ơ</a:t>
            </a:r>
            <a:br>
              <a:rPr lang="en-US" altLang="en-US" sz="1555" b="1"/>
            </a:br>
            <a:r>
              <a:rPr lang="" altLang="en-US" sz="1555" b="1"/>
              <a:t>Đ</a:t>
            </a:r>
            <a:r>
              <a:rPr lang="en-US" altLang="en-US" sz="1555" b="1"/>
              <a:t>â</a:t>
            </a:r>
            <a:r>
              <a:rPr lang="en-US" altLang="vi-VN" sz="1555" b="1"/>
              <a:t>y là c</a:t>
            </a:r>
            <a:r>
              <a:rPr lang="en-US" altLang="en-US" sz="1555" b="1"/>
              <a:t>á</a:t>
            </a:r>
            <a:r>
              <a:rPr lang="en-US" altLang="vi-VN" sz="1555" b="1"/>
              <a:t>ch giải th</a:t>
            </a:r>
            <a:r>
              <a:rPr lang="en-US" altLang="en-US" sz="1555" b="1"/>
              <a:t>í</a:t>
            </a:r>
            <a:r>
              <a:rPr lang="en-US" altLang="vi-VN" sz="1555" b="1"/>
              <a:t>ch </a:t>
            </a:r>
            <a:r>
              <a:rPr lang="" altLang="en-US" sz="1555" b="1"/>
              <a:t>đ</a:t>
            </a:r>
            <a:r>
              <a:rPr lang="en-US" altLang="vi-VN" sz="1555" b="1"/>
              <a:t>ể giảng vi</a:t>
            </a:r>
            <a:r>
              <a:rPr lang="en-US" altLang="en-US" sz="1555" b="1"/>
              <a:t>ê</a:t>
            </a:r>
            <a:r>
              <a:rPr lang="en-US" altLang="vi-VN" sz="1555" b="1"/>
              <a:t>n thấy bạn hiểu bản chất, không học vẹt:</a:t>
            </a:r>
            <a:br>
              <a:rPr lang="en-US" altLang="vi-VN" sz="1555" b="1"/>
            </a:br>
            <a:r>
              <a:rPr lang="en-US" altLang="vi-VN" sz="1555" b="1"/>
              <a:t>Công thức: =VLOOKUP(lookup_value, table_array, col_index_num, [range_lookup])</a:t>
            </a:r>
            <a:br>
              <a:rPr lang="en-US" altLang="vi-VN" sz="1555" b="1"/>
            </a:br>
            <a:r>
              <a:rPr lang="en-US" altLang="vi-VN" sz="1555" b="1"/>
              <a:t>Tham số VLOOKUP</a:t>
            </a:r>
            <a:br>
              <a:rPr lang="en-US" altLang="vi-VN" sz="1555" b="1"/>
            </a:br>
            <a:endParaRPr lang="en-US" altLang="vi-VN" sz="1555" b="1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0" y="6536055"/>
            <a:ext cx="347345" cy="265430"/>
          </a:xfrm>
        </p:spPr>
        <p:txBody>
          <a:bodyPr>
            <a:normAutofit fontScale="40000"/>
          </a:bodyPr>
          <a:p>
            <a:r>
              <a:rPr lang="en-US" altLang="vi-VN"/>
              <a:t>1</a:t>
            </a:r>
            <a:endParaRPr lang="en-US" altLang="vi-V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êu đề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vi-VN" altLang="en-US"/>
          </a:p>
        </p:txBody>
      </p:sp>
      <p:sp>
        <p:nvSpPr>
          <p:cNvPr id="3" name="Trình giữ chỗ nội dung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en-US" altLang="vi-VN"/>
              <a:t>PHẦN 2. TRIỂN KHAI: Giải ph</a:t>
            </a:r>
            <a:r>
              <a:rPr lang="en-US" altLang="en-US"/>
              <a:t>á</a:t>
            </a:r>
            <a:r>
              <a:rPr lang="en-US" altLang="vi-VN"/>
              <a:t>p công nghệ FastMove</a:t>
            </a:r>
            <a:endParaRPr lang="en-US" altLang="vi-VN"/>
          </a:p>
          <a:p>
            <a:r>
              <a:rPr lang="en-US" altLang="vi-VN"/>
              <a:t>Vấn </a:t>
            </a:r>
            <a:r>
              <a:rPr lang="" altLang="en-US"/>
              <a:t>đ</a:t>
            </a:r>
            <a:r>
              <a:rPr lang="en-US" altLang="vi-VN"/>
              <a:t>ề: Tra gi</a:t>
            </a:r>
            <a:r>
              <a:rPr lang="en-US" altLang="en-US"/>
              <a:t>á </a:t>
            </a:r>
            <a:r>
              <a:rPr lang="en-US" altLang="vi-VN"/>
              <a:t>thủ công mất 16 tiếng/ngày.</a:t>
            </a:r>
            <a:endParaRPr lang="en-US" altLang="vi-VN"/>
          </a:p>
          <a:p>
            <a:r>
              <a:rPr lang="en-US" altLang="vi-VN"/>
              <a:t>Giải ph</a:t>
            </a:r>
            <a:r>
              <a:rPr lang="en-US" altLang="en-US"/>
              <a:t>á</a:t>
            </a:r>
            <a:r>
              <a:rPr lang="en-US" altLang="vi-VN"/>
              <a:t>p:</a:t>
            </a:r>
            <a:endParaRPr lang="en-US" altLang="vi-VN"/>
          </a:p>
          <a:p>
            <a:r>
              <a:rPr lang="en-US" altLang="vi-VN"/>
              <a:t>Excel tự </a:t>
            </a:r>
            <a:r>
              <a:rPr lang="" altLang="en-US"/>
              <a:t>đ</a:t>
            </a:r>
            <a:r>
              <a:rPr lang="en-US" altLang="vi-VN"/>
              <a:t>ộng: Tạo sheet BangGiaCuoc chuẩn 5 quy tắc vàng:</a:t>
            </a:r>
            <a:endParaRPr lang="en-US" altLang="vi-VN"/>
          </a:p>
          <a:p>
            <a:r>
              <a:rPr lang="en-US" altLang="vi-VN"/>
              <a:t>A1: M</a:t>
            </a:r>
            <a:r>
              <a:rPr lang="en-US" altLang="en-US"/>
              <a:t>ã </a:t>
            </a:r>
            <a:r>
              <a:rPr lang="en-US" altLang="vi-VN"/>
              <a:t>V</a:t>
            </a:r>
            <a:r>
              <a:rPr lang="en-US" altLang="en-US"/>
              <a:t>ù</a:t>
            </a:r>
            <a:r>
              <a:rPr lang="en-US" altLang="vi-VN"/>
              <a:t>ng | B1: Khoảng c</a:t>
            </a:r>
            <a:r>
              <a:rPr lang="en-US" altLang="en-US"/>
              <a:t>á</a:t>
            </a:r>
            <a:r>
              <a:rPr lang="en-US" altLang="vi-VN"/>
              <a:t>ch | C1: Gi</a:t>
            </a:r>
            <a:r>
              <a:rPr lang="en-US" altLang="en-US"/>
              <a:t>á </a:t>
            </a:r>
            <a:r>
              <a:rPr lang="en-US" altLang="vi-VN"/>
              <a:t>c</a:t>
            </a:r>
            <a:r>
              <a:rPr lang="" altLang="en-US"/>
              <a:t>ư</a:t>
            </a:r>
            <a:r>
              <a:rPr lang="en-US" altLang="vi-VN"/>
              <a:t>ớc</a:t>
            </a:r>
            <a:endParaRPr lang="en-US" altLang="vi-VN"/>
          </a:p>
          <a:p>
            <a:r>
              <a:rPr lang="en-US" altLang="vi-VN"/>
              <a:t>Sheet DonHang: Nhập m</a:t>
            </a:r>
            <a:r>
              <a:rPr lang="en-US" altLang="en-US"/>
              <a:t>ã </a:t>
            </a:r>
            <a:r>
              <a:rPr lang="en-US" altLang="vi-VN"/>
              <a:t>vận </a:t>
            </a:r>
            <a:r>
              <a:rPr lang="" altLang="en-US"/>
              <a:t>đ</a:t>
            </a:r>
            <a:r>
              <a:rPr lang="en-US" altLang="en-US"/>
              <a:t>ơ</a:t>
            </a:r>
            <a:r>
              <a:rPr lang="en-US" altLang="vi-VN"/>
              <a:t>n ở cột A, cột B tự ra gi</a:t>
            </a:r>
            <a:r>
              <a:rPr lang="en-US" altLang="en-US"/>
              <a:t>á:</a:t>
            </a:r>
            <a:endParaRPr lang="en-US" altLang="en-US"/>
          </a:p>
          <a:p>
            <a:r>
              <a:rPr lang="en-US" altLang="vi-VN"/>
              <a:t>=VLOOKUP(A2, BangGiaCuoc!$A$2:$C$200, 3, FALSE)</a:t>
            </a:r>
            <a:endParaRPr lang="en-US" altLang="vi-VN"/>
          </a:p>
          <a:p>
            <a:r>
              <a:rPr lang="en-US" altLang="vi-VN"/>
              <a:t>D</a:t>
            </a:r>
            <a:r>
              <a:rPr lang="en-US" altLang="en-US"/>
              <a:t>ù</a:t>
            </a:r>
            <a:r>
              <a:rPr lang="en-US" altLang="vi-VN"/>
              <a:t>ng $A$2:$C$200 </a:t>
            </a:r>
            <a:endParaRPr lang="en-US" altLang="vi-VN"/>
          </a:p>
          <a:p>
            <a:r>
              <a:rPr lang="en-US" altLang="vi-VN"/>
              <a:t>Word chuẩn h</a:t>
            </a:r>
            <a:r>
              <a:rPr lang="en-US" altLang="en-US"/>
              <a:t>ó</a:t>
            </a:r>
            <a:r>
              <a:rPr lang="en-US" altLang="vi-VN"/>
              <a:t>a: Tạo SOP h</a:t>
            </a:r>
            <a:r>
              <a:rPr lang="" altLang="en-US"/>
              <a:t>ư</a:t>
            </a:r>
            <a:r>
              <a:rPr lang="en-US" altLang="vi-VN"/>
              <a:t>ớng dẫn shipper d</a:t>
            </a:r>
            <a:r>
              <a:rPr lang="en-US" altLang="en-US"/>
              <a:t>ù</a:t>
            </a:r>
            <a:r>
              <a:rPr lang="en-US" altLang="vi-VN"/>
              <a:t>ng Heading 2 </a:t>
            </a:r>
            <a:r>
              <a:rPr lang="" altLang="en-US"/>
              <a:t>đ</a:t>
            </a:r>
            <a:r>
              <a:rPr lang="en-US" altLang="vi-VN"/>
              <a:t>ể bật Navigation Pane, </a:t>
            </a:r>
            <a:r>
              <a:rPr lang="" altLang="en-US"/>
              <a:t>đ</a:t>
            </a:r>
            <a:r>
              <a:rPr lang="en-US" altLang="vi-VN"/>
              <a:t>ể shipper t</a:t>
            </a:r>
            <a:r>
              <a:rPr lang="en-US" altLang="en-US"/>
              <a:t>ì</a:t>
            </a:r>
            <a:r>
              <a:rPr lang="en-US" altLang="vi-VN"/>
              <a:t>m nhanh.</a:t>
            </a:r>
            <a:endParaRPr lang="en-US" altLang="vi-VN"/>
          </a:p>
          <a:p>
            <a:r>
              <a:rPr lang="en-US" altLang="vi-VN"/>
              <a:t>PowerPoint theo 2 luật:</a:t>
            </a:r>
            <a:endParaRPr lang="en-US" altLang="vi-VN"/>
          </a:p>
          <a:p>
            <a:r>
              <a:rPr lang="en-US" altLang="vi-VN"/>
              <a:t> Mỗi slide max 3 </a:t>
            </a:r>
            <a:r>
              <a:rPr lang="" altLang="en-US"/>
              <a:t>ý</a:t>
            </a:r>
            <a:r>
              <a:rPr lang="en-US" altLang="vi-VN"/>
              <a:t>Ti</a:t>
            </a:r>
            <a:r>
              <a:rPr lang="en-US" altLang="en-US"/>
              <a:t>ê</a:t>
            </a:r>
            <a:r>
              <a:rPr lang="en-US" altLang="vi-VN"/>
              <a:t>u </a:t>
            </a:r>
            <a:r>
              <a:rPr lang="" altLang="en-US"/>
              <a:t>đ</a:t>
            </a:r>
            <a:r>
              <a:rPr lang="en-US" altLang="vi-VN"/>
              <a:t>ề là kết luận</a:t>
            </a:r>
            <a:endParaRPr lang="en-US" altLang="vi-V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êu đề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vi-VN">
                <a:sym typeface="+mn-ea"/>
              </a:rPr>
              <a:t>PHẦN 3. KIỂM THỬ: Xử l</a:t>
            </a:r>
            <a:r>
              <a:rPr lang="en-US" altLang="en-US">
                <a:sym typeface="+mn-ea"/>
              </a:rPr>
              <a:t>ý </a:t>
            </a:r>
            <a:r>
              <a:rPr lang="en-US" altLang="vi-VN">
                <a:sym typeface="+mn-ea"/>
              </a:rPr>
              <a:t>lỗi #N/A do m</a:t>
            </a:r>
            <a:r>
              <a:rPr lang="en-US" altLang="en-US">
                <a:sym typeface="+mn-ea"/>
              </a:rPr>
              <a:t>ã </a:t>
            </a:r>
            <a:r>
              <a:rPr lang="en-US" altLang="vi-VN">
                <a:sym typeface="+mn-ea"/>
              </a:rPr>
              <a:t>vận </a:t>
            </a:r>
            <a:r>
              <a:rPr lang="en-US" altLang="en-US">
                <a:sym typeface="+mn-ea"/>
              </a:rPr>
              <a:t>đơ</a:t>
            </a:r>
            <a:r>
              <a:rPr lang="en-US" altLang="vi-VN">
                <a:sym typeface="+mn-ea"/>
              </a:rPr>
              <a:t>n c</a:t>
            </a:r>
            <a:r>
              <a:rPr lang="en-US" altLang="en-US">
                <a:sym typeface="+mn-ea"/>
              </a:rPr>
              <a:t>ó </a:t>
            </a:r>
            <a:r>
              <a:rPr lang="en-US" altLang="vi-VN">
                <a:sym typeface="+mn-ea"/>
              </a:rPr>
              <a:t>k</a:t>
            </a:r>
            <a:r>
              <a:rPr lang="en-US" altLang="en-US">
                <a:sym typeface="+mn-ea"/>
              </a:rPr>
              <a:t>ý </a:t>
            </a:r>
            <a:r>
              <a:rPr lang="en-US" altLang="vi-VN">
                <a:sym typeface="+mn-ea"/>
              </a:rPr>
              <a:t>tự lạ bằng IFERROR</a:t>
            </a:r>
            <a:endParaRPr lang="vi-VN" altLang="en-US"/>
          </a:p>
        </p:txBody>
      </p:sp>
      <p:sp>
        <p:nvSpPr>
          <p:cNvPr id="3" name="Trình giữ chỗ nội dung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en-US" altLang="vi-VN"/>
              <a:t>Thực tế m</a:t>
            </a:r>
            <a:r>
              <a:rPr lang="en-US" altLang="en-US"/>
              <a:t>ã </a:t>
            </a:r>
            <a:r>
              <a:rPr lang="en-US" altLang="vi-VN"/>
              <a:t>vận </a:t>
            </a:r>
            <a:r>
              <a:rPr lang="" altLang="en-US"/>
              <a:t>đ</a:t>
            </a:r>
            <a:r>
              <a:rPr lang="en-US" altLang="en-US"/>
              <a:t>ơ</a:t>
            </a:r>
            <a:r>
              <a:rPr lang="en-US" altLang="vi-VN"/>
              <a:t>n hay bị FM-123 (thừa dấu c</a:t>
            </a:r>
            <a:r>
              <a:rPr lang="en-US" altLang="en-US"/>
              <a:t>á</a:t>
            </a:r>
            <a:r>
              <a:rPr lang="en-US" altLang="vi-VN"/>
              <a:t>ch) hoặc FM-123* (c</a:t>
            </a:r>
            <a:r>
              <a:rPr lang="en-US" altLang="en-US"/>
              <a:t>ó </a:t>
            </a:r>
            <a:r>
              <a:rPr lang="en-US" altLang="vi-VN"/>
              <a:t>k</a:t>
            </a:r>
            <a:r>
              <a:rPr lang="" altLang="en-US"/>
              <a:t>ý </a:t>
            </a:r>
            <a:r>
              <a:rPr lang="en-US" altLang="vi-VN"/>
              <a:t>tự lạ) -&gt; VLOOKUP không t</a:t>
            </a:r>
            <a:r>
              <a:rPr lang="en-US" altLang="en-US"/>
              <a:t>ì</a:t>
            </a:r>
            <a:r>
              <a:rPr lang="en-US" altLang="vi-VN"/>
              <a:t>m thấy -&gt; hiện #N/A rất xấu.</a:t>
            </a:r>
            <a:endParaRPr lang="en-US" altLang="vi-VN"/>
          </a:p>
          <a:p>
            <a:r>
              <a:rPr lang="en-US" altLang="vi-VN"/>
              <a:t>C</a:t>
            </a:r>
            <a:r>
              <a:rPr lang="en-US" altLang="en-US"/>
              <a:t>á</a:t>
            </a:r>
            <a:r>
              <a:rPr lang="en-US" altLang="vi-VN"/>
              <a:t>ch 1: Kết hợp TRIM </a:t>
            </a:r>
            <a:r>
              <a:rPr lang="" altLang="en-US"/>
              <a:t>đ</a:t>
            </a:r>
            <a:r>
              <a:rPr lang="en-US" altLang="vi-VN"/>
              <a:t>ể làm sạch m</a:t>
            </a:r>
            <a:r>
              <a:rPr lang="en-US" altLang="en-US"/>
              <a:t>ã:</a:t>
            </a:r>
            <a:endParaRPr lang="en-US" altLang="en-US"/>
          </a:p>
          <a:p>
            <a:r>
              <a:rPr lang="en-US" altLang="vi-VN"/>
              <a:t>=VLOOKUP(TRIM(A2), BangGiaCuoc!$A$2:$C$200, 3, FALSE)</a:t>
            </a:r>
            <a:endParaRPr lang="en-US" altLang="vi-VN"/>
          </a:p>
          <a:p>
            <a:r>
              <a:rPr lang="en-US" altLang="vi-VN"/>
              <a:t>TRIM sẽ x</a:t>
            </a:r>
            <a:r>
              <a:rPr lang="en-US" altLang="en-US"/>
              <a:t>ó</a:t>
            </a:r>
            <a:r>
              <a:rPr lang="en-US" altLang="vi-VN"/>
              <a:t>a hết c</a:t>
            </a:r>
            <a:r>
              <a:rPr lang="en-US" altLang="en-US"/>
              <a:t>á</a:t>
            </a:r>
            <a:r>
              <a:rPr lang="en-US" altLang="vi-VN"/>
              <a:t>ch thừa ở </a:t>
            </a:r>
            <a:r>
              <a:rPr lang="" altLang="en-US"/>
              <a:t>đ</a:t>
            </a:r>
            <a:r>
              <a:rPr lang="en-US" altLang="vi-VN"/>
              <a:t>ầu/cuối.</a:t>
            </a:r>
            <a:endParaRPr lang="en-US" altLang="vi-VN"/>
          </a:p>
          <a:p>
            <a:r>
              <a:rPr lang="en-US" altLang="vi-VN"/>
              <a:t>C</a:t>
            </a:r>
            <a:r>
              <a:rPr lang="en-US" altLang="en-US"/>
              <a:t>á</a:t>
            </a:r>
            <a:r>
              <a:rPr lang="en-US" altLang="vi-VN"/>
              <a:t>ch 2: Bọc th</a:t>
            </a:r>
            <a:r>
              <a:rPr lang="en-US" altLang="en-US"/>
              <a:t>ê</a:t>
            </a:r>
            <a:r>
              <a:rPr lang="en-US" altLang="vi-VN"/>
              <a:t>m IFERROR </a:t>
            </a:r>
            <a:r>
              <a:rPr lang="" altLang="en-US"/>
              <a:t>đ</a:t>
            </a:r>
            <a:r>
              <a:rPr lang="en-US" altLang="vi-VN"/>
              <a:t>ể slide không hiện lỗi:</a:t>
            </a:r>
            <a:endParaRPr lang="en-US" altLang="vi-VN"/>
          </a:p>
          <a:p>
            <a:r>
              <a:rPr lang="" altLang="en-US"/>
              <a:t>Đ</a:t>
            </a:r>
            <a:r>
              <a:rPr lang="en-US" altLang="en-US"/>
              <a:t>â</a:t>
            </a:r>
            <a:r>
              <a:rPr lang="en-US" altLang="vi-VN"/>
              <a:t>y là y</a:t>
            </a:r>
            <a:r>
              <a:rPr lang="en-US" altLang="en-US"/>
              <a:t>ê</a:t>
            </a:r>
            <a:r>
              <a:rPr lang="en-US" altLang="vi-VN"/>
              <a:t>u cầu của </a:t>
            </a:r>
            <a:r>
              <a:rPr lang="" altLang="en-US"/>
              <a:t>đ</a:t>
            </a:r>
            <a:r>
              <a:rPr lang="en-US" altLang="vi-VN"/>
              <a:t>ề:</a:t>
            </a:r>
            <a:endParaRPr lang="en-US" altLang="vi-VN"/>
          </a:p>
          <a:p>
            <a:r>
              <a:rPr lang="en-US" altLang="vi-VN"/>
              <a:t>=IFERROR(VLOOKUP(TRIM(A2), BangGiaCuoc!$A$2:$C$200, 3, FALSE), "M</a:t>
            </a:r>
            <a:r>
              <a:rPr lang="en-US" altLang="en-US"/>
              <a:t>ã </a:t>
            </a:r>
            <a:r>
              <a:rPr lang="en-US" altLang="vi-VN"/>
              <a:t>không tồn tại - Kiểm tra lại")</a:t>
            </a:r>
            <a:endParaRPr lang="en-US" altLang="vi-VN"/>
          </a:p>
          <a:p>
            <a:r>
              <a:rPr lang="en-US" altLang="vi-VN"/>
              <a:t>Giải th</a:t>
            </a:r>
            <a:r>
              <a:rPr lang="en-US" altLang="en-US"/>
              <a:t>í</a:t>
            </a:r>
            <a:r>
              <a:rPr lang="en-US" altLang="vi-VN"/>
              <a:t>ch:</a:t>
            </a:r>
            <a:endParaRPr lang="en-US" altLang="vi-VN"/>
          </a:p>
          <a:p>
            <a:r>
              <a:rPr lang="en-US" altLang="vi-VN"/>
              <a:t>Nếu VLOOKUP t</a:t>
            </a:r>
            <a:r>
              <a:rPr lang="en-US" altLang="en-US"/>
              <a:t>ì</a:t>
            </a:r>
            <a:r>
              <a:rPr lang="en-US" altLang="vi-VN"/>
              <a:t>m thấy -&gt; hiện gi</a:t>
            </a:r>
            <a:r>
              <a:rPr lang="en-US" altLang="en-US"/>
              <a:t>á </a:t>
            </a:r>
            <a:r>
              <a:rPr lang="en-US" altLang="vi-VN"/>
              <a:t>c</a:t>
            </a:r>
            <a:r>
              <a:rPr lang="" altLang="en-US"/>
              <a:t>ư</a:t>
            </a:r>
            <a:r>
              <a:rPr lang="en-US" altLang="vi-VN"/>
              <a:t>ớc b</a:t>
            </a:r>
            <a:r>
              <a:rPr lang="en-US" altLang="en-US"/>
              <a:t>ì</a:t>
            </a:r>
            <a:r>
              <a:rPr lang="en-US" altLang="vi-VN"/>
              <a:t>nh th</a:t>
            </a:r>
            <a:r>
              <a:rPr lang="" altLang="en-US"/>
              <a:t>ư</a:t>
            </a:r>
            <a:r>
              <a:rPr lang="en-US" altLang="vi-VN"/>
              <a:t>ờng</a:t>
            </a:r>
            <a:endParaRPr lang="en-US" altLang="vi-VN"/>
          </a:p>
          <a:p>
            <a:r>
              <a:rPr lang="en-US" altLang="vi-VN"/>
              <a:t>Nếu VLOOKUP lỗi #N/A (do k</a:t>
            </a:r>
            <a:r>
              <a:rPr lang="" altLang="en-US"/>
              <a:t>ý </a:t>
            </a:r>
            <a:r>
              <a:rPr lang="en-US" altLang="vi-VN"/>
              <a:t>tự lạ, m</a:t>
            </a:r>
            <a:r>
              <a:rPr lang="en-US" altLang="en-US"/>
              <a:t>ã </a:t>
            </a:r>
            <a:r>
              <a:rPr lang="en-US" altLang="vi-VN"/>
              <a:t>sai) -&gt; thay v</a:t>
            </a:r>
            <a:r>
              <a:rPr lang="en-US" altLang="en-US"/>
              <a:t>ì </a:t>
            </a:r>
            <a:r>
              <a:rPr lang="en-US" altLang="vi-VN"/>
              <a:t>hiện #N/A, n</a:t>
            </a:r>
            <a:r>
              <a:rPr lang="en-US" altLang="en-US"/>
              <a:t>ó </a:t>
            </a:r>
            <a:r>
              <a:rPr lang="en-US" altLang="vi-VN"/>
              <a:t>sẽ hiện c</a:t>
            </a:r>
            <a:r>
              <a:rPr lang="en-US" altLang="en-US"/>
              <a:t>â</a:t>
            </a:r>
            <a:r>
              <a:rPr lang="en-US" altLang="vi-VN"/>
              <a:t>u M</a:t>
            </a:r>
            <a:r>
              <a:rPr lang="en-US" altLang="en-US"/>
              <a:t>ã </a:t>
            </a:r>
            <a:r>
              <a:rPr lang="en-US" altLang="vi-VN"/>
              <a:t>không tồn tại - Kiểm tra lại rất chuy</a:t>
            </a:r>
            <a:r>
              <a:rPr lang="en-US" altLang="en-US"/>
              <a:t>ê</a:t>
            </a:r>
            <a:r>
              <a:rPr lang="en-US" altLang="vi-VN"/>
              <a:t>n nghiệp.</a:t>
            </a:r>
            <a:endParaRPr lang="en-US" altLang="vi-VN"/>
          </a:p>
        </p:txBody>
      </p:sp>
      <p:sp>
        <p:nvSpPr>
          <p:cNvPr id="4" name="Tiêu đề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035" y="609035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vi-VN" altLang="en-US"/>
          </a:p>
        </p:txBody>
      </p:sp>
      <p:sp>
        <p:nvSpPr>
          <p:cNvPr id="5" name="Trình giữ chỗ nội dung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035" y="149103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vi-VN"/>
              <a:t>Thực tế m</a:t>
            </a:r>
            <a:r>
              <a:rPr lang="en-US" altLang="en-US"/>
              <a:t>ã </a:t>
            </a:r>
            <a:r>
              <a:rPr lang="en-US" altLang="vi-VN"/>
              <a:t>vận </a:t>
            </a:r>
            <a:r>
              <a:rPr lang="en-US" altLang="en-US"/>
              <a:t>đ</a:t>
            </a:r>
            <a:r>
              <a:rPr lang="en-US" altLang="en-US"/>
              <a:t>ơ</a:t>
            </a:r>
            <a:r>
              <a:rPr lang="en-US" altLang="vi-VN"/>
              <a:t>n hay bị FM-123 (thừa dấu c</a:t>
            </a:r>
            <a:r>
              <a:rPr lang="en-US" altLang="en-US"/>
              <a:t>á</a:t>
            </a:r>
            <a:r>
              <a:rPr lang="en-US" altLang="vi-VN"/>
              <a:t>ch) hoặc FM-123* (c</a:t>
            </a:r>
            <a:r>
              <a:rPr lang="en-US" altLang="en-US"/>
              <a:t>ó </a:t>
            </a:r>
            <a:r>
              <a:rPr lang="en-US" altLang="vi-VN"/>
              <a:t>k</a:t>
            </a:r>
            <a:r>
              <a:rPr lang="en-US" altLang="en-US"/>
              <a:t>ý </a:t>
            </a:r>
            <a:r>
              <a:rPr lang="en-US" altLang="vi-VN"/>
              <a:t>tự lạ) -&gt; VLOOKUP không t</a:t>
            </a:r>
            <a:r>
              <a:rPr lang="en-US" altLang="en-US"/>
              <a:t>ì</a:t>
            </a:r>
            <a:r>
              <a:rPr lang="en-US" altLang="vi-VN"/>
              <a:t>m thấy -&gt; hiện #N/A rất xấu.</a:t>
            </a:r>
            <a:endParaRPr lang="en-US" altLang="vi-VN"/>
          </a:p>
          <a:p>
            <a:r>
              <a:rPr lang="en-US" altLang="vi-VN"/>
              <a:t>C</a:t>
            </a:r>
            <a:r>
              <a:rPr lang="en-US" altLang="en-US"/>
              <a:t>á</a:t>
            </a:r>
            <a:r>
              <a:rPr lang="en-US" altLang="vi-VN"/>
              <a:t>ch 1: Kết hợp TRIM </a:t>
            </a:r>
            <a:r>
              <a:rPr lang="en-US" altLang="en-US"/>
              <a:t>đ</a:t>
            </a:r>
            <a:r>
              <a:rPr lang="en-US" altLang="vi-VN"/>
              <a:t>ể làm sạch m</a:t>
            </a:r>
            <a:r>
              <a:rPr lang="en-US" altLang="en-US"/>
              <a:t>ã:</a:t>
            </a:r>
            <a:endParaRPr lang="en-US" altLang="en-US"/>
          </a:p>
          <a:p>
            <a:r>
              <a:rPr lang="en-US" altLang="vi-VN"/>
              <a:t>=VLOOKUP(TRIM(A2), BangGiaCuoc!$A$2:$C$200, 3, FALSE)</a:t>
            </a:r>
            <a:endParaRPr lang="en-US" altLang="vi-VN"/>
          </a:p>
          <a:p>
            <a:r>
              <a:rPr lang="en-US" altLang="vi-VN"/>
              <a:t>TRIM sẽ x</a:t>
            </a:r>
            <a:r>
              <a:rPr lang="en-US" altLang="en-US"/>
              <a:t>ó</a:t>
            </a:r>
            <a:r>
              <a:rPr lang="en-US" altLang="vi-VN"/>
              <a:t>a hết c</a:t>
            </a:r>
            <a:r>
              <a:rPr lang="en-US" altLang="en-US"/>
              <a:t>á</a:t>
            </a:r>
            <a:r>
              <a:rPr lang="en-US" altLang="vi-VN"/>
              <a:t>ch thừa ở </a:t>
            </a:r>
            <a:r>
              <a:rPr lang="en-US" altLang="en-US"/>
              <a:t>đ</a:t>
            </a:r>
            <a:r>
              <a:rPr lang="en-US" altLang="vi-VN"/>
              <a:t>ầu/cuối.</a:t>
            </a:r>
            <a:endParaRPr lang="en-US" altLang="vi-VN"/>
          </a:p>
          <a:p>
            <a:r>
              <a:rPr lang="en-US" altLang="vi-VN"/>
              <a:t>C</a:t>
            </a:r>
            <a:r>
              <a:rPr lang="en-US" altLang="en-US"/>
              <a:t>á</a:t>
            </a:r>
            <a:r>
              <a:rPr lang="en-US" altLang="vi-VN"/>
              <a:t>ch 2: Bọc th</a:t>
            </a:r>
            <a:r>
              <a:rPr lang="en-US" altLang="en-US"/>
              <a:t>ê</a:t>
            </a:r>
            <a:r>
              <a:rPr lang="en-US" altLang="vi-VN"/>
              <a:t>m IFERROR </a:t>
            </a:r>
            <a:r>
              <a:rPr lang="en-US" altLang="en-US"/>
              <a:t>đ</a:t>
            </a:r>
            <a:r>
              <a:rPr lang="en-US" altLang="vi-VN"/>
              <a:t>ể slide không hiện lỗi:</a:t>
            </a:r>
            <a:endParaRPr lang="en-US" altLang="vi-VN"/>
          </a:p>
          <a:p>
            <a:r>
              <a:rPr lang="en-US" altLang="en-US"/>
              <a:t>Đ</a:t>
            </a:r>
            <a:r>
              <a:rPr lang="en-US" altLang="en-US"/>
              <a:t>â</a:t>
            </a:r>
            <a:r>
              <a:rPr lang="en-US" altLang="vi-VN"/>
              <a:t>y là y</a:t>
            </a:r>
            <a:r>
              <a:rPr lang="en-US" altLang="en-US"/>
              <a:t>ê</a:t>
            </a:r>
            <a:r>
              <a:rPr lang="en-US" altLang="vi-VN"/>
              <a:t>u cầu của </a:t>
            </a:r>
            <a:r>
              <a:rPr lang="en-US" altLang="en-US"/>
              <a:t>đ</a:t>
            </a:r>
            <a:r>
              <a:rPr lang="en-US" altLang="vi-VN"/>
              <a:t>ề:</a:t>
            </a:r>
            <a:endParaRPr lang="en-US" altLang="vi-VN"/>
          </a:p>
          <a:p>
            <a:r>
              <a:rPr lang="en-US" altLang="vi-VN"/>
              <a:t>=IFERROR(VLOOKUP(TRIM(A2), BangGiaCuoc!$A$2:$C$200, 3, FALSE), "M</a:t>
            </a:r>
            <a:r>
              <a:rPr lang="en-US" altLang="en-US"/>
              <a:t>ã </a:t>
            </a:r>
            <a:r>
              <a:rPr lang="en-US" altLang="vi-VN"/>
              <a:t>không tồn tại - Kiểm tra lại")</a:t>
            </a:r>
            <a:endParaRPr lang="en-US" altLang="vi-VN"/>
          </a:p>
          <a:p>
            <a:r>
              <a:rPr lang="en-US" altLang="vi-VN"/>
              <a:t>Giải th</a:t>
            </a:r>
            <a:r>
              <a:rPr lang="en-US" altLang="en-US"/>
              <a:t>í</a:t>
            </a:r>
            <a:r>
              <a:rPr lang="en-US" altLang="vi-VN"/>
              <a:t>ch:</a:t>
            </a:r>
            <a:endParaRPr lang="en-US" altLang="vi-VN"/>
          </a:p>
          <a:p>
            <a:r>
              <a:rPr lang="en-US" altLang="vi-VN"/>
              <a:t>Nếu VLOOKUP t</a:t>
            </a:r>
            <a:r>
              <a:rPr lang="en-US" altLang="en-US"/>
              <a:t>ì</a:t>
            </a:r>
            <a:r>
              <a:rPr lang="en-US" altLang="vi-VN"/>
              <a:t>m thấy -&gt; hiện gi</a:t>
            </a:r>
            <a:r>
              <a:rPr lang="en-US" altLang="en-US"/>
              <a:t>á </a:t>
            </a:r>
            <a:r>
              <a:rPr lang="en-US" altLang="vi-VN"/>
              <a:t>c</a:t>
            </a:r>
            <a:r>
              <a:rPr lang="en-US" altLang="en-US"/>
              <a:t>ư</a:t>
            </a:r>
            <a:r>
              <a:rPr lang="en-US" altLang="vi-VN"/>
              <a:t>ớc b</a:t>
            </a:r>
            <a:r>
              <a:rPr lang="en-US" altLang="en-US"/>
              <a:t>ì</a:t>
            </a:r>
            <a:r>
              <a:rPr lang="en-US" altLang="vi-VN"/>
              <a:t>nh th</a:t>
            </a:r>
            <a:r>
              <a:rPr lang="en-US" altLang="en-US"/>
              <a:t>ư</a:t>
            </a:r>
            <a:r>
              <a:rPr lang="en-US" altLang="vi-VN"/>
              <a:t>ờng</a:t>
            </a:r>
            <a:endParaRPr lang="en-US" altLang="vi-VN"/>
          </a:p>
          <a:p>
            <a:r>
              <a:rPr lang="en-US" altLang="vi-VN"/>
              <a:t>Nếu VLOOKUP lỗi #N/A (do k</a:t>
            </a:r>
            <a:r>
              <a:rPr lang="en-US" altLang="en-US"/>
              <a:t>ý </a:t>
            </a:r>
            <a:r>
              <a:rPr lang="en-US" altLang="vi-VN"/>
              <a:t>tự lạ, m</a:t>
            </a:r>
            <a:r>
              <a:rPr lang="en-US" altLang="en-US"/>
              <a:t>ã </a:t>
            </a:r>
            <a:r>
              <a:rPr lang="en-US" altLang="vi-VN"/>
              <a:t>sai) -&gt; thay v</a:t>
            </a:r>
            <a:r>
              <a:rPr lang="en-US" altLang="en-US"/>
              <a:t>ì </a:t>
            </a:r>
            <a:r>
              <a:rPr lang="en-US" altLang="vi-VN"/>
              <a:t>hiện #N/A, n</a:t>
            </a:r>
            <a:r>
              <a:rPr lang="en-US" altLang="en-US"/>
              <a:t>ó </a:t>
            </a:r>
            <a:r>
              <a:rPr lang="en-US" altLang="vi-VN"/>
              <a:t>sẽ hiện c</a:t>
            </a:r>
            <a:r>
              <a:rPr lang="en-US" altLang="en-US"/>
              <a:t>â</a:t>
            </a:r>
            <a:r>
              <a:rPr lang="en-US" altLang="vi-VN"/>
              <a:t>u M</a:t>
            </a:r>
            <a:r>
              <a:rPr lang="en-US" altLang="en-US"/>
              <a:t>ã </a:t>
            </a:r>
            <a:r>
              <a:rPr lang="en-US" altLang="vi-VN"/>
              <a:t>không tồn tại - Kiểm tra lại rất chuy</a:t>
            </a:r>
            <a:r>
              <a:rPr lang="en-US" altLang="en-US"/>
              <a:t>ê</a:t>
            </a:r>
            <a:r>
              <a:rPr lang="en-US" altLang="vi-VN"/>
              <a:t>n nghiệp.</a:t>
            </a:r>
            <a:endParaRPr lang="en-US" altLang="vi-VN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êu đề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vi-VN" b="1"/>
              <a:t>Giải Pháp</a:t>
            </a:r>
            <a:endParaRPr lang="en-US" altLang="vi-VN" b="1"/>
          </a:p>
        </p:txBody>
      </p:sp>
      <p:sp>
        <p:nvSpPr>
          <p:cNvPr id="3" name="Trình giữ chỗ nội dung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vi-VN" altLang="en-US"/>
          </a:p>
        </p:txBody>
      </p:sp>
      <p:pic>
        <p:nvPicPr>
          <p:cNvPr id="4" name="Hình ảnh 3"/>
          <p:cNvPicPr/>
          <p:nvPr/>
        </p:nvPicPr>
        <p:blipFill>
          <a:blip r:embed="rId3"/>
          <a:stretch>
            <a:fillRect/>
          </a:stretch>
        </p:blipFill>
        <p:spPr>
          <a:xfrm>
            <a:off x="608330" y="1490345"/>
            <a:ext cx="1096835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2022</Words>
  <Application>WPS Presentation</Application>
  <PresentationFormat>Màn hình rộng</PresentationFormat>
  <Paragraphs>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PHẦN 1. PHÂN TÍCH : Mapping 4 tham số VLOOKUP = Nhân viên kho tra hồ sơ Đây là cách giải thích để giảng viên thấy bạn hiểu bản chất, không học vẹt: Công thức: =VLOOKUP(lookup_value, table_array, col_index_num, [range_lookup]) Tham số VLOOKUP </dc:title>
  <dc:creator>SingPC</dc:creator>
  <cp:lastModifiedBy>Phuơng Linh</cp:lastModifiedBy>
  <cp:revision>1</cp:revision>
  <dcterms:created xsi:type="dcterms:W3CDTF">2026-10-26T14:41:10Z</dcterms:created>
  <dcterms:modified xsi:type="dcterms:W3CDTF">2026-10-26T14:41:10Z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1066-12.1.0.29162</vt:lpwstr>
  </property>
  <property fmtid="{D5CDD505-2E9C-101B-9397-08002B2CF9AE}" pid="3" name="ICV">
    <vt:lpwstr>7AE964A2E1E04222A63975075F15FD14_11</vt:lpwstr>
  </property>
</Properties>
</file>